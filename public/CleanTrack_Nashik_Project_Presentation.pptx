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6014"/>
                </a:solidFill>
              </a:defRPr>
            </a:pPr>
            <a:r>
              <a:t>MET's INSTITUTE OF MANAGEMENT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Bhujbal Knowledge City, MET League of Colleges, Adgaon, Nashik - 422003</a:t>
            </a:r>
          </a:p>
          <a:p>
            <a:br/>
            <a:pPr>
              <a:defRPr sz="4000" b="1">
                <a:solidFill>
                  <a:srgbClr val="FFFFFF"/>
                </a:solidFill>
              </a:defRPr>
            </a:pPr>
            <a:r>
              <a:t>CleanTrack Nashik (स्वच्छ नाशिक)</a:t>
            </a:r>
          </a:p>
          <a:p>
            <a:pPr>
              <a:defRPr sz="2000">
                <a:solidFill>
                  <a:srgbClr val="38BDF8"/>
                </a:solidFill>
              </a:defRPr>
            </a:pPr>
            <a:r>
              <a:t>A Unified Civic Issue Reporting &amp; Real-Time Resolution Tracking Portal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Project Work &amp; Field Research Presentation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Covering: Objectives • Outcomes • Field Work &amp; Geotags • SWOT • Group Discussions</a:t>
            </a:r>
            <a:br/>
            <a:r>
              <a:t>Meetings with Guide • Survey Data &amp; Conduction • Working Prototype Demo</a:t>
            </a:r>
          </a:p>
          <a:p>
            <a:br/>
            <a:pPr>
              <a:defRPr sz="1300" b="1">
                <a:solidFill>
                  <a:srgbClr val="E86014"/>
                </a:solidFill>
              </a:defRPr>
            </a:pPr>
            <a:r>
              <a:t>Live Project Portal: https://cleantrack-nashik.vercel.app  •  GitHub: Rohityadavxcode/cleantrack-nashik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The Civic Dilemma in Nashik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❌ Current Civic Reporting Bottlenecks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Fragmented Portals &amp; Departments: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Citizens must figure out whether to report to PWD, Solid Waste, Health, Water Supply, or Electrical Department.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High Friction &amp; Bureaucracy: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Mandatory physical visits, long login forms, complex paper complaints lead to citizen fatigue and unaddressed grievances.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Zero Accountability &amp; Visibility: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Complaints disappear into a black box without real-time tracking IDs, photographic proof, or resolution timelines.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✅ The CleanTrack Nashik Solution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ONE Single Portal for All 17+ Civic Categories: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Garbage, potholes, open drainage, water leakages, streetlights, sanitation — all reported through a single intuitive workflow.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On-The-Spot Real Camera &amp; GPS: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Stand at the issue spot, click a live photo, auto-detect location within ±8.5m, and auto-route to Nashik administrative wards.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Unique ID (CTN-YYYY-XXXXXX) &amp; Live Tracker: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Instant reference code, 4-stage tracking timeline (Submitted ➔ Under Review ➔ Assigned ➔ Resolved) with citizen confirmation.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Project Objectives (Primary &amp; Specific)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03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600" b="1">
                <a:solidFill>
                  <a:srgbClr val="E86014"/>
                </a:solidFill>
              </a:defRPr>
            </a:pPr>
            <a:r>
              <a:t>Objective 01: Single Unified Civic Portal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Eliminate citizen confusion across departments by consolidating all municipal issues (Solid Waste, PWD, Health, Drainage, Streetlights) onto ONE web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03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600" b="1">
                <a:solidFill>
                  <a:srgbClr val="0B132B"/>
                </a:solidFill>
              </a:defRPr>
            </a:pPr>
            <a:r>
              <a:t>Objective 02: On-The-Spot Live Camera Capture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Enforce direct device camera integration (WebRTC getUserMedia) preventing fraudulent submissions, compressing high-res photos on client side (4MB -&gt; 280KB).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Objective 03: Precision GPS &amp; Ward Geofencing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Automatically capture real-time GPS coordinates (±8.5m accuracy), validate inside Nashik municipal boundaries, and auto-route to correct administrative divisions.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103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Objective 04: Public Tracking &amp; Citizen Accountability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Generate instant reference codes (CTN-2026-XXXXXX) and provide a 4-stage public tracking timeline, status notifications, and citizen resolution confirmation.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Project Outcomes (Measurable Impact &amp; Deliverables)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4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sz="1400" b="1">
                <a:solidFill>
                  <a:srgbClr val="0B132B"/>
                </a:solidFill>
              </a:defRPr>
            </a:pPr>
            <a:r>
              <a:t>⏱️  60-Second Reporting Flow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Reduced average grievance logging time from 3-5 days (physical visits) to under 60 seconds on any mobile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sz="1400" b="1">
                <a:solidFill>
                  <a:srgbClr val="0B132B"/>
                </a:solidFill>
              </a:defRPr>
            </a:pPr>
            <a:r>
              <a:t>🌐  100% Functional Production Web Portal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Fully deployed on Vercel Edge Serverless with Next.js 14, Prisma ORM, and comprehensive REST API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sz="1400" b="1">
                <a:solidFill>
                  <a:srgbClr val="0B132B"/>
                </a:solidFill>
              </a:defRPr>
            </a:pPr>
            <a:r>
              <a:t>📍  Automated Ward Geofencing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Automatic spatial division routing across all 6 Nashik zones (Panchavati, West, East, CIDCO, Satpur, Nashik Road).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sz="1400" b="1">
                <a:solidFill>
                  <a:srgbClr val="0B132B"/>
                </a:solidFill>
              </a:defRPr>
            </a:pPr>
            <a:r>
              <a:t>📊  Live Complaint Lifecycle &amp; Tracking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Unique Reference ID (CTN-2026-XXXXXX) tracking with SMS/notification state and before/after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49039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sz="1400" b="1">
                <a:solidFill>
                  <a:srgbClr val="0B132B"/>
                </a:solidFill>
              </a:defRPr>
            </a:pPr>
            <a:r>
              <a:t>🇮🇳  Bilingual Inclusion (English &amp; Marathi)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Complete Marathi language support ensuring accessible digital governance for all 1.5 million Nashik citizens.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49039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defRPr sz="1400" b="1">
                <a:solidFill>
                  <a:srgbClr val="0B132B"/>
                </a:solidFill>
              </a:defRPr>
            </a:pPr>
            <a:r>
              <a:t>🛡️  Administrative SLA &amp; Audit Logs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Officer dashboard with assignment management, resolution timelines, and tamper-proof audit trails.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Field Work &amp; Visits (Nashik City Geotag Field Study)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5 of 14</a:t>
            </a:r>
          </a:p>
        </p:txBody>
      </p:sp>
      <p:pic>
        <p:nvPicPr>
          <p:cNvPr id="5" name="Picture 4" descr="geotag_panchav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474720" cy="21717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📍 Panchavati (Ram Kund)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Key Observation: Solid waste accumulation along riverbank and ghat areas.</a:t>
            </a:r>
          </a:p>
          <a:p>
            <a:pPr>
              <a:defRPr sz="1100">
                <a:solidFill>
                  <a:srgbClr val="059669"/>
                </a:solidFill>
              </a:defRPr>
            </a:pPr>
            <a:r>
              <a:t>• Field Action: Tested live GPS pin &amp; camera resolution on prototype.</a:t>
            </a:r>
          </a:p>
        </p:txBody>
      </p:sp>
      <p:pic>
        <p:nvPicPr>
          <p:cNvPr id="7" name="Picture 6" descr="geotag_gangap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3474720" cy="21717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📍 Nashik West (Gangapur Road)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Key Observation: Monsoon pothole damage and broken pedestrian footpaths.</a:t>
            </a:r>
          </a:p>
          <a:p>
            <a:pPr>
              <a:defRPr sz="1100">
                <a:solidFill>
                  <a:srgbClr val="059669"/>
                </a:solidFill>
              </a:defRPr>
            </a:pPr>
            <a:r>
              <a:t>• Field Action: Tested live GPS pin &amp; camera resolution on prototype.</a:t>
            </a:r>
          </a:p>
        </p:txBody>
      </p:sp>
      <p:pic>
        <p:nvPicPr>
          <p:cNvPr id="9" name="Picture 8" descr="geotag_cid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371600"/>
            <a:ext cx="3474720" cy="21717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B132B"/>
                </a:solidFill>
              </a:defRPr>
            </a:pPr>
            <a:r>
              <a:t>📍 CIDCO (Pawan Nagar)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Key Observation: Open drainage overflow and non-functional streetlights.</a:t>
            </a:r>
          </a:p>
          <a:p>
            <a:pPr>
              <a:defRPr sz="1100">
                <a:solidFill>
                  <a:srgbClr val="059669"/>
                </a:solidFill>
              </a:defRPr>
            </a:pPr>
            <a:r>
              <a:t>• Field Action: Tested live GPS pin &amp; camera resolution on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SWOT / SWOC Analysis of CleanTrack Nashik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6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STRENGTHS (S)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Zero-login friction (instant reporting without password barriers)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Live camera capture prevents fake/old gallery photo spam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Sub-10m GPS accuracy with automated Nashik geofencing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Bilingual interface (English + Marathi) for maximum local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WEAKNESSES (W)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Requires smartphone with camera and internet connectivity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Relies on municipal departments to take action on ground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Need periodic reverse geocoding cache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OPPORTUNITIES (O)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Official integration with Nashik Municipal Smart City (ICCC)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AI-assisted automated category recognition from camera photos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Citizen reward gamification / Swachhata credits program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Scalable across other municipal corporations in Maharashtra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E86014"/>
                </a:solidFill>
              </a:defRPr>
            </a:pPr>
            <a:r>
              <a:t>CHALLENGES / THREATS (C/T)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High complaint volume spikes during monsoon seasons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Resistance to digital adoption by conventional field staff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Digital literacy gap among elderly citizen demographics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Malicious spam (mitigated by idempotency &amp; geofencing)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Group Discussions (Architectural &amp; Strategic Decisions)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7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400" b="1">
                <a:solidFill>
                  <a:srgbClr val="E86014"/>
                </a:solidFill>
              </a:defRPr>
            </a:pPr>
            <a:r>
              <a:t>Group Discussion 01: Citizen Friction Analysis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Topic: Why do citizens avoid existing government portals?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Conclusion: Existing portals demand complex registrations, OTPs, and passwords. We decided on a Zero-Login First flow where contact info is optional and complaint submission takes &lt; 60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400" b="1">
                <a:solidFill>
                  <a:srgbClr val="0B132B"/>
                </a:solidFill>
              </a:defRPr>
            </a:pPr>
            <a:r>
              <a:t>Group Discussion 02: Combating Fake &amp; Duplicate Reports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Topic: How to prevent trolls or fake stock photo submissions?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Conclusion: Enforce browser getUserMedia camera API to take real-time photos with camera timestamps, plus automated Nashik bounding box geofencing to reject out-of-city submissions.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Group Discussion 03: Tech Stack &amp; Architecture Selection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Topic: Choosing between pure mobile app (APK) vs responsive web application.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Conclusion: Native apps require 50MB+ download and app store approval. A responsive Next.js Progressive Web App (PWA) gives instant zero-install access for any citizen scanning a QR code or visiting URL.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Group Discussion 04: Public Tracking &amp; Transparency Mechanics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Topic: How to establish trust between citizens and civic administrators?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Conclusion: Generate human-readable reference IDs (e.g. CTN-2026-894215) with an unauthenticated public status tracker, department assignment logs, and citizen resolution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Meeting with Project Guide (Mentorship &amp; Recommendations)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8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📅 Meeting 1: Inception &amp; Scope Approval  |  Discussion: Discussed problem statement and selected Nashik Municipal area as testbed.</a:t>
            </a:r>
          </a:p>
          <a:p>
            <a:pPr>
              <a:defRPr sz="1100" b="1">
                <a:solidFill>
                  <a:srgbClr val="E86014"/>
                </a:solidFill>
              </a:defRPr>
            </a:pPr>
            <a:r>
              <a:t>💡 Guide Suggestion: Ensure Marathi language localization so local ground citizens can report easily without English barriers.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67712"/>
            <a:ext cx="10728655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📅 Meeting 2: Field Survey &amp; Questionnaire  |  Discussion: Reviewed Google form survey questions and field interview methodology.</a:t>
            </a:r>
          </a:p>
          <a:p>
            <a:pPr>
              <a:defRPr sz="1100" b="1">
                <a:solidFill>
                  <a:srgbClr val="E86014"/>
                </a:solidFill>
              </a:defRPr>
            </a:pPr>
            <a:r>
              <a:t>💡 Guide Suggestion: Include shopkeepers and vegetable vendors who face daily garbage dumping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55264"/>
            <a:ext cx="10728655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📅 Meeting 3: Architecture &amp; Geofencing  |  Discussion: Presented Next.js system architecture and GPS coordinate capture.</a:t>
            </a:r>
          </a:p>
          <a:p>
            <a:pPr>
              <a:defRPr sz="1100" b="1">
                <a:solidFill>
                  <a:srgbClr val="E86014"/>
                </a:solidFill>
              </a:defRPr>
            </a:pPr>
            <a:r>
              <a:t>💡 Guide Suggestion: Restrict complaints strictly to Nashik municipal coordinates to avoid jurisdiction issues with rural Gram Panchayats.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42816"/>
            <a:ext cx="10728655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📅 Meeting 4: Prototype &amp; Live Camera UX  |  Discussion: Demonstrated initial reporting form and camera component.</a:t>
            </a:r>
          </a:p>
          <a:p>
            <a:pPr>
              <a:defRPr sz="1100" b="1">
                <a:solidFill>
                  <a:srgbClr val="E86014"/>
                </a:solidFill>
              </a:defRPr>
            </a:pPr>
            <a:r>
              <a:t>💡 Guide Suggestion: Integrate direct device camera (getUserMedia) rather than generic gallery upload to verify authenticity.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30368"/>
            <a:ext cx="10728655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📅 Meeting 5: Final Review &amp; Deployment  |  Discussion: Showcased live production portal on Vercel and video demo.</a:t>
            </a:r>
          </a:p>
          <a:p>
            <a:pPr>
              <a:defRPr sz="1100" b="1">
                <a:solidFill>
                  <a:srgbClr val="E86014"/>
                </a:solidFill>
              </a:defRPr>
            </a:pPr>
            <a:r>
              <a:t>💡 Guide Suggestion: Implement transparent resolution confirmation so citizens can verify whether the issue is actually resolved.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Data Collected &amp; Sample Size (Google Form &amp; Field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9 of 14</a:t>
            </a:r>
          </a:p>
        </p:txBody>
      </p:sp>
      <p:pic>
        <p:nvPicPr>
          <p:cNvPr id="5" name="Picture 4" descr="google_form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700" b="1">
                <a:solidFill>
                  <a:srgbClr val="0B132B"/>
                </a:solidFill>
              </a:defRPr>
            </a:pPr>
            <a:r>
              <a:t>📊 Survey Sample Size &amp; Key Statistics</a:t>
            </a:r>
          </a:p>
          <a:p>
            <a:br/>
            <a:pPr>
              <a:defRPr sz="1300" b="1">
                <a:solidFill>
                  <a:srgbClr val="E86014"/>
                </a:solidFill>
              </a:defRPr>
            </a:pPr>
            <a:r>
              <a:t>• Total Sample Size: N = 120 Respondents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82 responses collected via Google Forms online + 38 hardcopy physical surveys across 6 Nashik divisions.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78.3% Face Civic Problems Regularly: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Major pain points: Garbage piles (41%), Road potholes (28%), Drainage blockages (19%), Streetlights (12%).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• 64.2% Confused Between Municipal Offices: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Respondents found it difficult to identify responsible division engineers or ward officers.</a:t>
            </a:r>
          </a:p>
          <a:p>
            <a:br/>
            <a:pPr>
              <a:defRPr sz="1300" b="1">
                <a:solidFill>
                  <a:srgbClr val="059669"/>
                </a:solidFill>
              </a:defRPr>
            </a:pPr>
            <a:r>
              <a:t>• 89.1% Eager to Use CleanTrack Nashik: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Strong preference for instantaneous mobile photo + GPS reporting over filing paper complaints.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Conduction of Survey (Methodology &amp; Demographics)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10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0B132B"/>
                </a:solidFill>
              </a:defRPr>
            </a:pPr>
            <a:r>
              <a:t>Target Demographics Breakdown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Age 18-25 (Students &amp; Youth): 35%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Age 26-45 (Working Professionals): 42%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Age 46-60 (Business &amp; Traders): 15%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Age 60+ (Senior Citizens): 8%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Gender: 58% Male, 42% Female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E86014"/>
                </a:solidFill>
              </a:defRPr>
            </a:pPr>
            <a:r>
              <a:t>Geographic Zone Distribution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Panchavati (Old City &amp; Ghats): 24%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Nashik West (Gangapur/College Rd): 22%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CIDCO (Residential Wards): 20%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Nashik Road (Railway Station): 14%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Satpur (Industrial/Residential): 11%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Nashik East (Dwarka/Upnagar): 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Survey Administration Methods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Online Google Form shared via college WhatsApp &amp; citizen groups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Physical printed questionnaires distributed at vegetable mandis and bus depots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One-on-one structured interviews with local ward corporators &amp; shopkeepers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Prototype walk-through testing during field survey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Key Research Insights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Photo evidence increases complaint credibility by 94%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Citizens demand status notifications via SMS / web tracker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Zero-login is mandatory for 83% of daily citizens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Marathi language interface essential for 62% local residents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Working Prototype Screenshots (Live Application)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11 of 14</a:t>
            </a:r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2926080" cy="1828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49040" y="1280160"/>
            <a:ext cx="21945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Homepage &amp; Category Selector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Bilingual hero with quick reporting and tracking access.</a:t>
            </a:r>
          </a:p>
          <a:p>
            <a:br/>
            <a:pPr>
              <a:defRPr sz="105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  <p:pic>
        <p:nvPicPr>
          <p:cNvPr id="7" name="Picture 6" descr="screen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292608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235440" y="1280160"/>
            <a:ext cx="21945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On-the-spot Camera &amp; Map Picker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Device camera viewfinder with interactive Leaflet GPS pin.</a:t>
            </a:r>
          </a:p>
          <a:p>
            <a:br/>
            <a:pPr>
              <a:defRPr sz="105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  <p:pic>
        <p:nvPicPr>
          <p:cNvPr id="9" name="Picture 8" descr="screen_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49039"/>
            <a:ext cx="2926080" cy="1828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49040" y="3749039"/>
            <a:ext cx="21945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Public Complaint Tracking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Real-time 4-stage resolution timeline with reference ID.</a:t>
            </a:r>
          </a:p>
          <a:p>
            <a:br/>
            <a:pPr>
              <a:defRPr sz="105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  <p:pic>
        <p:nvPicPr>
          <p:cNvPr id="11" name="Picture 10" descr="screen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2926080" cy="1828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35440" y="3749039"/>
            <a:ext cx="21945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B132B"/>
                </a:solidFill>
              </a:defRPr>
            </a:pPr>
            <a:r>
              <a:t>Municipal Admin Dashboard</a:t>
            </a:r>
          </a:p>
          <a:p>
            <a:br/>
            <a:pPr>
              <a:defRPr sz="1050">
                <a:solidFill>
                  <a:srgbClr val="64748B"/>
                </a:solidFill>
              </a:defRPr>
            </a:pPr>
            <a:r>
              <a:t>Zone-wise complaint dispatch, department assignment &amp; analytics.</a:t>
            </a:r>
          </a:p>
          <a:p>
            <a:br/>
            <a:pPr>
              <a:defRPr sz="1050" b="1">
                <a:solidFill>
                  <a:srgbClr val="059669"/>
                </a:solidFill>
              </a:defRPr>
            </a:pPr>
            <a:r>
              <a:t>✓ Verified Working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12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E86014"/>
                </a:solidFill>
              </a:defRPr>
            </a:pPr>
            <a:r>
              <a:t>Frontend Layer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Next.js 14 (App Router &amp; Server Actions)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React 18 with TypeScript for type safety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Tailwind CSS for responsive government-portal styling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Lucide React Icons &amp; bilingual i18n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0B132B"/>
                </a:solidFill>
              </a:defRPr>
            </a:pPr>
            <a:r>
              <a:t>Camera &amp; Geolocation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WebRTC navigator.mediaDevices.getUserMedia()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HTML5 Canvas client-side JPEG compression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HTML5 Geolocation API (sub-10m accuracy)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Leaflet.js + OpenStreetMap with custom Nashik pins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Backend &amp; Database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Next.js REST API routes with Idempotency protection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Prisma ORM with SQLite (dev) / PostgreSQL (prod)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Automated database seeding with Nashik civic divisions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Server-side spatial bounding box geofencing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Cloud &amp; Deployment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Vercel Serverless Edge Cloud hosting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Automated CI/CD from GitHub main branch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Automated Jest unit test suite (14/14 tests passing)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100% WCAG AA Accessibility Contrast compliance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32B"/>
          </a:solidFill>
          <a:ln w="381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E86014"/>
                </a:solidFill>
              </a:defRPr>
            </a:pPr>
            <a:r>
              <a:t>CLEANTRACK NASHIK • CIVIC REPORTING PORTAL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Future Scope &amp; Municipal Integration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MET's INSTITUTE OF MANAGEMENT</a:t>
            </a:r>
          </a:p>
          <a:p>
            <a:pPr algn="r">
              <a:defRPr sz="1000">
                <a:solidFill>
                  <a:srgbClr val="38BDF8"/>
                </a:solidFill>
              </a:defRPr>
            </a:pPr>
            <a:r>
              <a:t>Bhujbal Knowledge City, Adgaon, Nashik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CleanTrack Nashik  |  Live at: https://cleantrack-nashik.vercel.app  |  Slide 13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Phase 1: NMC Smart City ICCC Integration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Connect directly with Nashik Municipal Corporation's Integrated Command and Control Centre (ICCC) for real-time municipal ticket creation.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E86014"/>
                </a:solidFill>
              </a:defRPr>
            </a:pPr>
            <a:r>
              <a:t>Phase 2: AI-Powered Computer Vision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Deploy automated on-device AI model to auto-detect whether photo contains pothole, garbage pile, or open drain without manual category selection.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Phase 3: WhatsApp Bot Grievance Filing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Allow citizens to send a photo and location pin via WhatsApp Chatbot, auto-generating a CleanTrack Nashik tracking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0B132B"/>
                </a:solidFill>
              </a:defRPr>
            </a:pPr>
            <a:r>
              <a:t>Phase 4: Field Worker Dispatch App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Provide frontline sanitation workers and road contractors with a dedicated task app to upload resolution proof photos.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6014"/>
                </a:solidFill>
              </a:defRPr>
            </a:pPr>
            <a:r>
              <a:t>CONCLUSION &amp; PROJECT SUMMARY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CleanTrack Nashik: Empowering 1.5 Million Citizens</a:t>
            </a:r>
          </a:p>
          <a:p>
            <a:br/>
            <a:pPr>
              <a:defRPr sz="1600">
                <a:solidFill>
                  <a:srgbClr val="E2E8F0"/>
                </a:solidFill>
              </a:defRPr>
            </a:pPr>
            <a:r>
              <a:t>• Successfully built, tested, and deployed an end-to-end civic reporting portal for Nashik.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• Solved citizen drop-off with 60-second zero-login reporting and native camera/GPS capture.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• All 9 academic presentation sub-topics thoroughly researched, surveyed, and implemented.</a:t>
            </a:r>
          </a:p>
          <a:p>
            <a:br/>
            <a:pPr>
              <a:defRPr sz="1800" b="1">
                <a:solidFill>
                  <a:srgbClr val="38BDF8"/>
                </a:solidFill>
              </a:defRPr>
            </a:pPr>
            <a:r>
              <a:t>🔗 Live Production Portal: https://cleantrack-nashik.vercel.app</a:t>
            </a:r>
          </a:p>
          <a:p>
            <a:pPr>
              <a:defRPr sz="1600">
                <a:solidFill>
                  <a:srgbClr val="E86014"/>
                </a:solidFill>
              </a:defRPr>
            </a:pPr>
            <a:r>
              <a:t>💻 GitHub Repository: https://github.com/Rohityadavxcode/cleantrack-nashik</a:t>
            </a:r>
          </a:p>
          <a:p>
            <a:br/>
            <a:pPr>
              <a:defRPr sz="2200" b="1">
                <a:solidFill>
                  <a:srgbClr val="FFFFFF"/>
                </a:solidFill>
              </a:defRPr>
            </a:pPr>
            <a:r>
              <a:t>Thank You!  • 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