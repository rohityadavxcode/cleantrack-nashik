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011680"/>
            <a:ext cx="103628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2563EB"/>
                </a:solidFill>
                <a:latin typeface="Arial"/>
              </a:defRPr>
            </a:pPr>
            <a:r>
              <a:t>CA - 231 - FP: Field work</a:t>
            </a:r>
          </a:p>
          <a:p>
            <a:pPr algn="ctr">
              <a:defRPr sz="4000" b="1">
                <a:solidFill>
                  <a:srgbClr val="2563EB"/>
                </a:solidFill>
                <a:latin typeface="Arial"/>
              </a:defRPr>
            </a:pPr>
            <a:br/>
            <a:r>
              <a:t>Topic Name: Clean Track Nashik</a:t>
            </a:r>
          </a:p>
          <a:p>
            <a:pPr algn="ctr">
              <a:defRPr sz="1800">
                <a:solidFill>
                  <a:srgbClr val="1E293B"/>
                </a:solidFill>
                <a:latin typeface="Arial"/>
              </a:defRPr>
            </a:pPr>
            <a:br/>
            <a:r>
              <a:t>A Unified Civic Issue Reporting &amp; Real-Time Tracking Portal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1887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F172A"/>
                </a:solidFill>
                <a:latin typeface="Arial"/>
              </a:defRPr>
            </a:pPr>
            <a:r>
              <a:t>URBAN TECH</a:t>
            </a:r>
          </a:p>
          <a:p>
            <a:pPr algn="ctr">
              <a:defRPr sz="2400">
                <a:solidFill>
                  <a:srgbClr val="2563EB"/>
                </a:solidFill>
                <a:latin typeface="Arial"/>
              </a:defRPr>
            </a:pPr>
            <a:br/>
            <a:r>
              <a:t>Name of Group Members with Roll Number</a:t>
            </a:r>
          </a:p>
          <a:p>
            <a:pPr algn="ctr">
              <a:defRPr sz="2400" b="1">
                <a:solidFill>
                  <a:srgbClr val="0F172A"/>
                </a:solidFill>
                <a:latin typeface="Arial"/>
              </a:defRPr>
            </a:pPr>
            <a:br/>
            <a:r>
              <a:t>• PAWAN SHIMPI - 53</a:t>
            </a:r>
            <a:br/>
            <a:r>
              <a:t>• ROHIT YADAV - 67</a:t>
            </a:r>
          </a:p>
          <a:p>
            <a:pPr algn="ctr">
              <a:defRPr sz="1600">
                <a:solidFill>
                  <a:srgbClr val="64748B"/>
                </a:solidFill>
              </a:defRPr>
            </a:pPr>
            <a:br/>
            <a:r>
              <a:t>Under the Esteemed Guidance of:</a:t>
            </a:r>
          </a:p>
          <a:p>
            <a:pPr algn="ctr">
              <a:defRPr sz="2000" b="1">
                <a:solidFill>
                  <a:srgbClr val="DC2626"/>
                </a:solidFill>
              </a:defRPr>
            </a:pPr>
            <a:r>
              <a:t>Mrs. Shubhangi Phade</a:t>
            </a:r>
          </a:p>
          <a:p>
            <a:pPr algn="ctr">
              <a:defRPr sz="1400">
                <a:solidFill>
                  <a:srgbClr val="1E293B"/>
                </a:solidFill>
              </a:defRPr>
            </a:pPr>
            <a:r>
              <a:t>MET, Institute of Management - BCA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❖  OBJECTIVES 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0F172A"/>
                </a:solidFill>
                <a:latin typeface="Calibri"/>
              </a:defRPr>
            </a:pPr>
            <a:r>
              <a:t>•  To identify major civic issues affecting Nashik City (garbage, potholes, drainage, streetlights).</a:t>
            </a:r>
          </a:p>
          <a:p>
            <a:pPr>
              <a:spcAft>
                <a:spcPts val="800"/>
              </a:spcAft>
              <a:defRPr sz="1550">
                <a:solidFill>
                  <a:srgbClr val="0F172A"/>
                </a:solidFill>
                <a:latin typeface="Calibri"/>
              </a:defRPr>
            </a:pPr>
            <a:r>
              <a:t>•  To conduct field visits and collect geo-tagged evidence of public problems across Nashik municipal divisions.</a:t>
            </a:r>
          </a:p>
          <a:p>
            <a:pPr>
              <a:spcAft>
                <a:spcPts val="800"/>
              </a:spcAft>
              <a:defRPr sz="1550">
                <a:solidFill>
                  <a:srgbClr val="0F172A"/>
                </a:solidFill>
                <a:latin typeface="Calibri"/>
              </a:defRPr>
            </a:pPr>
            <a:r>
              <a:t>•  To analyze the impact of civic issues on citizens, public safety, and the urban environment.</a:t>
            </a:r>
          </a:p>
          <a:p>
            <a:pPr>
              <a:spcAft>
                <a:spcPts val="800"/>
              </a:spcAft>
              <a:defRPr sz="1550">
                <a:solidFill>
                  <a:srgbClr val="0F172A"/>
                </a:solidFill>
                <a:latin typeface="Calibri"/>
              </a:defRPr>
            </a:pPr>
            <a:r>
              <a:t>•  To understand public awareness and department confusion through structured surveys and observations.</a:t>
            </a:r>
          </a:p>
          <a:p>
            <a:pPr>
              <a:spcAft>
                <a:spcPts val="800"/>
              </a:spcAft>
              <a:defRPr sz="1550">
                <a:solidFill>
                  <a:srgbClr val="0F172A"/>
                </a:solidFill>
                <a:latin typeface="Calibri"/>
              </a:defRPr>
            </a:pPr>
            <a:r>
              <a:t>•  To suggest practical and technology-based solutions for faster, accountable issue resolution.</a:t>
            </a:r>
          </a:p>
          <a:p>
            <a:pPr>
              <a:spcAft>
                <a:spcPts val="800"/>
              </a:spcAft>
              <a:defRPr sz="1550">
                <a:solidFill>
                  <a:srgbClr val="0F172A"/>
                </a:solidFill>
                <a:latin typeface="Calibri"/>
              </a:defRPr>
            </a:pPr>
            <a:r>
              <a:t>•  To develop a Zero-Login on-the-spot mobile camera &amp; GPS reporting portal (CleanTrack Nashik).</a:t>
            </a:r>
          </a:p>
          <a:p>
            <a:pPr>
              <a:spcAft>
                <a:spcPts val="800"/>
              </a:spcAft>
              <a:defRPr sz="1550">
                <a:solidFill>
                  <a:srgbClr val="0F172A"/>
                </a:solidFill>
                <a:latin typeface="Calibri"/>
              </a:defRPr>
            </a:pPr>
            <a:r>
              <a:t>•  To encourage active citizen participation in improving Nashik's civic infrastructure.</a:t>
            </a:r>
          </a:p>
          <a:p>
            <a:pPr>
              <a:spcAft>
                <a:spcPts val="800"/>
              </a:spcAft>
              <a:defRPr sz="1550">
                <a:solidFill>
                  <a:srgbClr val="0F172A"/>
                </a:solidFill>
                <a:latin typeface="Calibri"/>
              </a:defRPr>
            </a:pPr>
            <a:r>
              <a:t>•  To support a cleaner, safer, and more sustainable Nashik City under Smart City governance.</a:t>
            </a:r>
          </a:p>
          <a:p>
            <a:pPr>
              <a:spcAft>
                <a:spcPts val="800"/>
              </a:spcAft>
              <a:defRPr sz="1550">
                <a:solidFill>
                  <a:srgbClr val="0F172A"/>
                </a:solidFill>
                <a:latin typeface="Calibri"/>
              </a:defRPr>
            </a:pPr>
            <a:r>
              <a:t>•  To promote smart urban governance through real-time digital reporting, automated ward routing, and tracking.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❖  OUTCOME 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0F172A"/>
                </a:solidFill>
                <a:latin typeface="Calibri"/>
              </a:defRPr>
            </a:pPr>
            <a:r>
              <a:t>•  Improved reporting of civic issues through a simple, zero-login, and accessible mobile web platform.</a:t>
            </a:r>
          </a:p>
          <a:p>
            <a:pPr>
              <a:spcAft>
                <a:spcPts val="800"/>
              </a:spcAft>
              <a:defRPr sz="1550">
                <a:solidFill>
                  <a:srgbClr val="0F172A"/>
                </a:solidFill>
                <a:latin typeface="Calibri"/>
              </a:defRPr>
            </a:pPr>
            <a:r>
              <a:t>•  Faster identification and resolution of public problems such as garbage, potholes, water leakage, and streetlight failures.</a:t>
            </a:r>
          </a:p>
          <a:p>
            <a:pPr>
              <a:spcAft>
                <a:spcPts val="800"/>
              </a:spcAft>
              <a:defRPr sz="1550">
                <a:solidFill>
                  <a:srgbClr val="0F172A"/>
                </a:solidFill>
                <a:latin typeface="Calibri"/>
              </a:defRPr>
            </a:pPr>
            <a:r>
              <a:t>•  Reduction in complaint filing time from 3-5 working days (paper/visit) to under 60 seconds on-the-spot.</a:t>
            </a:r>
          </a:p>
          <a:p>
            <a:pPr>
              <a:spcAft>
                <a:spcPts val="800"/>
              </a:spcAft>
              <a:defRPr sz="1550">
                <a:solidFill>
                  <a:srgbClr val="0F172A"/>
                </a:solidFill>
                <a:latin typeface="Calibri"/>
              </a:defRPr>
            </a:pPr>
            <a:r>
              <a:t>•  Greater citizen participation in maintaining a clean and safe Nashik City.</a:t>
            </a:r>
          </a:p>
          <a:p>
            <a:pPr>
              <a:spcAft>
                <a:spcPts val="800"/>
              </a:spcAft>
              <a:defRPr sz="1550">
                <a:solidFill>
                  <a:srgbClr val="0F172A"/>
                </a:solidFill>
                <a:latin typeface="Calibri"/>
              </a:defRPr>
            </a:pPr>
            <a:r>
              <a:t>•  Enhanced communication between citizens and municipal authorities with unique Reference IDs (CTN-2026-XXXXXX).</a:t>
            </a:r>
          </a:p>
          <a:p>
            <a:pPr>
              <a:spcAft>
                <a:spcPts val="800"/>
              </a:spcAft>
              <a:defRPr sz="1550">
                <a:solidFill>
                  <a:srgbClr val="0F172A"/>
                </a:solidFill>
                <a:latin typeface="Calibri"/>
              </a:defRPr>
            </a:pPr>
            <a:r>
              <a:t>•  Creation of an immutable digital record of civic issues for better planning, analytics, and resource allocation.</a:t>
            </a:r>
          </a:p>
          <a:p>
            <a:pPr>
              <a:spcAft>
                <a:spcPts val="800"/>
              </a:spcAft>
              <a:defRPr sz="1550">
                <a:solidFill>
                  <a:srgbClr val="0F172A"/>
                </a:solidFill>
                <a:latin typeface="Calibri"/>
              </a:defRPr>
            </a:pPr>
            <a:r>
              <a:t>•  Improved cleanliness and public hygiene across all 6 administrative divisions of Nashik.</a:t>
            </a:r>
          </a:p>
          <a:p>
            <a:pPr>
              <a:spcAft>
                <a:spcPts val="800"/>
              </a:spcAft>
              <a:defRPr sz="1550">
                <a:solidFill>
                  <a:srgbClr val="0F172A"/>
                </a:solidFill>
                <a:latin typeface="Calibri"/>
              </a:defRPr>
            </a:pPr>
            <a:r>
              <a:t>•  Reduced environmental pollution and road hazards through timely reporting and verified action.</a:t>
            </a:r>
          </a:p>
          <a:p>
            <a:pPr>
              <a:spcAft>
                <a:spcPts val="800"/>
              </a:spcAft>
              <a:defRPr sz="1550">
                <a:solidFill>
                  <a:srgbClr val="0F172A"/>
                </a:solidFill>
                <a:latin typeface="Calibri"/>
              </a:defRPr>
            </a:pPr>
            <a:r>
              <a:t>•  Support for the Smart City vision by deploying a live production platform: https://cleantrack-nashik.vercel.app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❖  OVERALL PLAN FOR FIELDWORK &amp; METHODOLOGY 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600" b="1">
                <a:solidFill>
                  <a:srgbClr val="DC2626"/>
                </a:solidFill>
              </a:defRPr>
            </a:pPr>
            <a:r>
              <a:t>❖ Fieldwork Plan Phases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Problem Identification: Identify major civic problems across Nashik City.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Field Survey: Visit selected locations, conduct observations, and capture geo-tagged photos.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Data Collection: Gather survey responses via Google Forms &amp; hardcopy questionnaires.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Data Analysis: Analyze responses using Excel/Sheets to discover key civic pain points.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Solution Development: Propose CleanTrack Nashik zero-login on-the-spot architecture.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App Prototype: Develop working Next.js 14 web application with camera &amp; Leaflet GPS.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Testing &amp; Validation: Validate prototype with real citizens and test resolution timeline.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❖ Methodology to be Adopted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Identify common civic problems faced by citizens in Nashik.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Conduct survey using a structured 4-point questionnaire.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Collect and analyze 120 verified survey responses.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Study existing complaint management systems and related research.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Design Clean Track Nashik application based on user requirements.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Develop features: on-the-spot photo capture, GPS location, auto-ward routing, live tracking.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Test application with users and gather live user feedback.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Evaluate system performance, accessibility (WCAG AA), and future improvements.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❖  FIELD WORK AND VISITS — GEOTAG PHOTOGRAPHS :</a:t>
            </a:r>
          </a:p>
        </p:txBody>
      </p:sp>
      <p:pic>
        <p:nvPicPr>
          <p:cNvPr id="4" name="Picture 3" descr="geotag_panchava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3474720" cy="21717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393192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📍 Panchavati (Ram Kund &amp; Ghats)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• GPS Coordinates: 20.0076° N, 73.7932° E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Observation: Solid waste accumulation, riverbank public hygiene.</a:t>
            </a:r>
          </a:p>
          <a:p>
            <a:pPr>
              <a:defRPr sz="1050" b="1">
                <a:solidFill>
                  <a:srgbClr val="059669"/>
                </a:solidFill>
              </a:defRPr>
            </a:pPr>
            <a:r>
              <a:t>• Geotag Verified by Urban Tech Team.</a:t>
            </a:r>
          </a:p>
        </p:txBody>
      </p:sp>
      <p:pic>
        <p:nvPicPr>
          <p:cNvPr id="6" name="Picture 5" descr="geotag_gangapu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371600"/>
            <a:ext cx="3474720" cy="21717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343400" y="393192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📍 Nashik West (Gangapur Road)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• GPS Coordinates: 20.0125° N, 73.7628° E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Observation: Monsoon road damage, potholes, damaged footpaths.</a:t>
            </a:r>
          </a:p>
          <a:p>
            <a:pPr>
              <a:defRPr sz="1050" b="1">
                <a:solidFill>
                  <a:srgbClr val="059669"/>
                </a:solidFill>
              </a:defRPr>
            </a:pPr>
            <a:r>
              <a:t>• Geotag Verified by Urban Tech Team.</a:t>
            </a:r>
          </a:p>
        </p:txBody>
      </p:sp>
      <p:pic>
        <p:nvPicPr>
          <p:cNvPr id="8" name="Picture 7" descr="geotag_cid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1371600"/>
            <a:ext cx="3474720" cy="21717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55280" y="393192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📍 CIDCO (Pawan Nagar, Ward 24)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• GPS Coordinates: 19.9678° N, 73.7431° E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Observation: Open drainage overflow and non-working streetlights.</a:t>
            </a:r>
          </a:p>
          <a:p>
            <a:pPr>
              <a:defRPr sz="1050" b="1">
                <a:solidFill>
                  <a:srgbClr val="059669"/>
                </a:solidFill>
              </a:defRPr>
            </a:pPr>
            <a:r>
              <a:t>• Geotag Verified by Urban Tech Team.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❖  SWOT / SWOC ANALYSIS 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2148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274320"/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t>STRENGTHS (S)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Zero-login friction (instant reporting without password barriers).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Direct device camera capture (getUserMedia) prevents fake/old photos.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Precision GPS detection (±8.5m) with automatic Nashik geofencing.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Bilingual interface (English + Marathi) for maximum local accessibility.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2148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274320"/>
          <a:lstStyle/>
          <a:p>
            <a:pPr algn="ctr">
              <a:defRPr sz="1500" b="1">
                <a:solidFill>
                  <a:srgbClr val="DC2626"/>
                </a:solidFill>
              </a:defRPr>
            </a:pPr>
            <a:r>
              <a:t>WEAKNESSES (W)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Requires smartphone with camera and internet connectivity.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Initial dependency on municipal department responsiveness.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Need periodic reverse geocoding cache optimization for offline areas.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39"/>
            <a:ext cx="5212080" cy="2148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27432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OPPORTUNITIES (O)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Integration with Nashik Municipal Smart City (ICCC) command center.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AI-assisted automated category recognition from camera frames.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Citizen reward gamification / Swachhata credits program.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Scalable across other municipal corporations in Maharashtra.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49039"/>
            <a:ext cx="5212080" cy="2148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274320"/>
          <a:lstStyle/>
          <a:p>
            <a:pPr algn="ctr">
              <a:defRPr sz="1500" b="1">
                <a:solidFill>
                  <a:srgbClr val="EA580C"/>
                </a:solidFill>
              </a:defRPr>
            </a:pPr>
            <a:r>
              <a:t>CHALLENGES / THREATS (C/T)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Heavy complaint volume spikes during monsoon seasons (potholes/waterlogging).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Resistance to digital adoption by conventional municipal field staff.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Digital literacy gap among senior citizen demographics.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Malicious spam (prevented via idempotency &amp; bounding-box validation).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❖  GROUP DISCUSSIONS (URBAN TECH TEAM) 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274320"/>
          <a:lstStyle/>
          <a:p>
            <a:pPr algn="ctr">
              <a:defRPr sz="1400" b="1">
                <a:solidFill>
                  <a:srgbClr val="EA580C"/>
                </a:solidFill>
              </a:defRPr>
            </a:pPr>
            <a:r>
              <a:t>Group Discussion 01: Citizen Barrier Analysis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Discussion between Pawan Shimpi &amp; Rohit Yadav: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Why do citizens abandon existing municipal portals? Identified that mandatory accounts, OTP verification, and forgotten passwords cause 80%+ drop-offs. Decided on a Zero-Login First 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27432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Group Discussion 02: Fake Complaint Prevention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Discussion between Pawan Shimpi &amp; Rohit Yadav: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How to prevent trolls or stock photo uploads? Decided to enforce live device camera capture (getUserMedia API) and server-side Nashik boundary geofencing to reject non-local reports.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39"/>
            <a:ext cx="521208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27432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Group Discussion 03: Web Application vs Native APK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Discussion between Pawan Shimpi &amp; Rohit Yadav: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Native apps require 50MB download and app-store installations. A responsive Next.js Progressive Web App (PWA) gives instant zero-install access via QR code or direct web URL.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49039"/>
            <a:ext cx="521208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274320"/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t>Group Discussion 04: Public Tracking &amp; Transparency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Discussion between Pawan Shimpi &amp; Rohit Yadav: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How to establish public trust? Developed unique complaint reference IDs (e.g. CTN-2026-894215) with an unauthenticated public status tracker and 4-stage resolution timeline.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❖  MEETING WITH GUIDE — MRS. SHUBHANGI PHADE 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📅 Meeting 1: Topic Inception &amp; Scope Approval  |  Discussion: Presented initial civic reporting concept for Nashik City.</a:t>
            </a:r>
          </a:p>
          <a:p>
            <a:pPr>
              <a:defRPr sz="1100" b="1">
                <a:solidFill>
                  <a:srgbClr val="DC2626"/>
                </a:solidFill>
              </a:defRPr>
            </a:pPr>
            <a:r>
              <a:t>💡 Guide Recommendation: Guide Suggestion: Ensure Marathi language localization so common citizens across Nashik can report issues without language barriers.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10728655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📅 Meeting 2: Field Survey &amp; Questionnaire Review  |  Discussion: Reviewed the 4-point survey questionnaire and data gathering plan.</a:t>
            </a:r>
          </a:p>
          <a:p>
            <a:pPr>
              <a:defRPr sz="1100" b="1">
                <a:solidFill>
                  <a:srgbClr val="DC2626"/>
                </a:solidFill>
              </a:defRPr>
            </a:pPr>
            <a:r>
              <a:t>💡 Guide Recommendation: Guide Suggestion: Include shopkeepers, vegetable vendors, and local daily commuters who face recurring civic infrastructure problems.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10728655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📅 Meeting 3: Architecture &amp; Geolocation Review  |  Discussion: Demonstrated GPS coordinates capture and division routing.</a:t>
            </a:r>
          </a:p>
          <a:p>
            <a:pPr>
              <a:defRPr sz="1100" b="1">
                <a:solidFill>
                  <a:srgbClr val="DC2626"/>
                </a:solidFill>
              </a:defRPr>
            </a:pPr>
            <a:r>
              <a:t>💡 Guide Recommendation: Guide Suggestion: Enforce strict bounding-box geofencing to prevent complaints from rural or outside-Nashik jurisdictions.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51960"/>
            <a:ext cx="10728655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📅 Meeting 4: Prototype &amp; Live Camera Review  |  Discussion: Demonstrated camera viewfinder and photo upload form.</a:t>
            </a:r>
          </a:p>
          <a:p>
            <a:pPr>
              <a:defRPr sz="1100" b="1">
                <a:solidFill>
                  <a:srgbClr val="DC2626"/>
                </a:solidFill>
              </a:defRPr>
            </a:pPr>
            <a:r>
              <a:t>💡 Guide Recommendation: Guide Suggestion: Use real-time browser camera (getUserMedia) rather than gallery file upload to guarantee genuine on-the-spot reporting.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12080"/>
            <a:ext cx="10728655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📅 Meeting 5: Final Testing &amp; Deployment Review  |  Discussion: Showcased live production deployment on Vercel and video demo.</a:t>
            </a:r>
          </a:p>
          <a:p>
            <a:pPr>
              <a:defRPr sz="1100" b="1">
                <a:solidFill>
                  <a:srgbClr val="DC2626"/>
                </a:solidFill>
              </a:defRPr>
            </a:pPr>
            <a:r>
              <a:t>💡 Guide Recommendation: Guide Suggestion: Provide transparent citizen confirmation before ticket closure so users can verify actual on-ground resolution.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❖  DATA COLLECTED — SAMPLE SIZE &amp; SURVEY RESULTS :</a:t>
            </a:r>
          </a:p>
        </p:txBody>
      </p:sp>
      <p:pic>
        <p:nvPicPr>
          <p:cNvPr id="4" name="Picture 3" descr="google_form_surv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5120640" cy="3200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📊 Survey Sample Size &amp; Findings</a:t>
            </a:r>
          </a:p>
          <a:p>
            <a:br/>
            <a:pPr>
              <a:defRPr sz="1250" b="1">
                <a:solidFill>
                  <a:srgbClr val="DC2626"/>
                </a:solidFill>
              </a:defRPr>
            </a:pPr>
            <a:r>
              <a:t>• Total Sample Size: N = 120 Citizens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82 responses via Google Forms (online) + 38 hardcopy printed survey forms collected during fieldwork across 6 Nashik divisions.</a:t>
            </a:r>
          </a:p>
          <a:p>
            <a:br/>
            <a:pPr>
              <a:defRPr sz="1250" b="1">
                <a:solidFill>
                  <a:srgbClr val="0F172A"/>
                </a:solidFill>
              </a:defRPr>
            </a:pPr>
            <a:r>
              <a:t>• 78.3% Face Civic Problems Regularly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Highest frequency issues: Solid waste / garbage dumps (41%), Road potholes (28%), Drainage blockages (19%), Streetlight failures (12%).</a:t>
            </a:r>
          </a:p>
          <a:p>
            <a:br/>
            <a:pPr>
              <a:defRPr sz="1250" b="1">
                <a:solidFill>
                  <a:srgbClr val="0F172A"/>
                </a:solidFill>
              </a:defRPr>
            </a:pPr>
            <a:r>
              <a:t>• 64.2% Confused Between Municipal Offices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Citizens struggle to identify whether an issue falls under PWD, Health, Drainage, or Electricity department.</a:t>
            </a:r>
          </a:p>
          <a:p>
            <a:br/>
            <a:pPr>
              <a:defRPr sz="1250" b="1">
                <a:solidFill>
                  <a:srgbClr val="059669"/>
                </a:solidFill>
              </a:defRPr>
            </a:pPr>
            <a:r>
              <a:t>• 89.1% Ready to Adopt CleanTrack Nashik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Overwhelming demand for instant smartphone camera + GPS reporting with live status tracking.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❖  CONDUCTION OF SURVEY &amp; QUESTIONNAIRE 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48640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500" b="1">
                <a:solidFill>
                  <a:srgbClr val="DC2626"/>
                </a:solidFill>
              </a:defRPr>
            </a:pPr>
            <a:r>
              <a:t>📋 Questionnaire Administered (as per Fieldwork Plan)</a:t>
            </a:r>
          </a:p>
          <a:p>
            <a:br/>
            <a:pPr>
              <a:defRPr sz="1200" b="1">
                <a:solidFill>
                  <a:srgbClr val="0F172A"/>
                </a:solidFill>
              </a:defRPr>
            </a:pPr>
            <a:r>
              <a:t>• Q1. Do you face civic problems in your area?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[✓] Yes: 78.3% (94)     [ ] No: 21.7% (26)</a:t>
            </a:r>
          </a:p>
          <a:p>
            <a:br/>
            <a:pPr>
              <a:defRPr sz="1200" b="1">
                <a:solidFill>
                  <a:srgbClr val="0F172A"/>
                </a:solidFill>
              </a:defRPr>
            </a:pPr>
            <a:r>
              <a:t>• Q2. Which problem do you face most often?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[✓] Garbage (41%)    [✓] Potholes (28%)</a:t>
            </a:r>
            <a:br/>
            <a:r>
              <a:t>[✓] Drainage (19%)    [✓] Streetlights (12%)</a:t>
            </a:r>
          </a:p>
          <a:p>
            <a:br/>
            <a:pPr>
              <a:defRPr sz="1200" b="1">
                <a:solidFill>
                  <a:srgbClr val="0F172A"/>
                </a:solidFill>
              </a:defRPr>
            </a:pPr>
            <a:r>
              <a:t>• Q3. Are you satisfied with current complaint system?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[ ] Yes: 9.1%     [✓] No: 64.2%     [ ] Partially: 26.7%</a:t>
            </a:r>
          </a:p>
          <a:p>
            <a:br/>
            <a:pPr>
              <a:defRPr sz="1200" b="1">
                <a:solidFill>
                  <a:srgbClr val="0F172A"/>
                </a:solidFill>
              </a:defRPr>
            </a:pPr>
            <a:r>
              <a:t>• Q4. Would you use CleanTrack Nashik to report?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[✓] Yes: 89.1% (107)     [ ] No: 3.3%     [ ] Maybe: 7.6%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371600"/>
            <a:ext cx="493776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📍 Conduction Demographics &amp; Field Locations</a:t>
            </a:r>
          </a:p>
          <a:p>
            <a:br/>
            <a:pPr>
              <a:defRPr sz="1200" b="1">
                <a:solidFill>
                  <a:srgbClr val="0F172A"/>
                </a:solidFill>
              </a:defRPr>
            </a:pPr>
            <a:r>
              <a:t>• Geographic Reach across 6 Divisions: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Panchavati (24%), Nashik West (22%), CIDCO (20%), Nashik Road (14%), Satpur (11%), Nashik East (9%).</a:t>
            </a:r>
          </a:p>
          <a:p>
            <a:br/>
            <a:pPr>
              <a:defRPr sz="1200" b="1">
                <a:solidFill>
                  <a:srgbClr val="0F172A"/>
                </a:solidFill>
              </a:defRPr>
            </a:pPr>
            <a:r>
              <a:t>• Target Demographic Profile: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Students &amp; Youth (35%), Working Professionals (42%), Business Owners &amp; Vendors (15%), Senior Citizens (8%).</a:t>
            </a:r>
          </a:p>
          <a:p>
            <a:br/>
            <a:pPr>
              <a:defRPr sz="1200" b="1">
                <a:solidFill>
                  <a:srgbClr val="0F172A"/>
                </a:solidFill>
              </a:defRPr>
            </a:pPr>
            <a:r>
              <a:t>• Administration Fieldwork: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Conducted at CBS Bus Stand, Panchavati Vegetable Market, College Road commercial centers, and residential societies.</a:t>
            </a:r>
          </a:p>
          <a:p>
            <a:br/>
            <a:pPr>
              <a:defRPr sz="1200" b="1">
                <a:solidFill>
                  <a:srgbClr val="0F172A"/>
                </a:solidFill>
              </a:defRPr>
            </a:pPr>
            <a:r>
              <a:t>• Survey Verification: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100% responses validated, geotag observations documented, zero synthetic bias.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❖  TOOLS TO BE USED FOR ANALYSIS &amp; DEVELOPMENT 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DC2626"/>
                </a:solidFill>
              </a:defRPr>
            </a:pPr>
            <a:r>
              <a:t>📋  Google Forms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To collect structured survey responses from citizens across Nashik.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DC2626"/>
                </a:solidFill>
              </a:defRPr>
            </a:pPr>
            <a:r>
              <a:t>📊  Microsoft Excel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To organize, analyze, and create statistical charts from survey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DC2626"/>
                </a:solidFill>
              </a:defRPr>
            </a:pPr>
            <a:r>
              <a:t>📈  Google Sheets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For collaborative cloud data storage, response aggregation, and team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🖥️  Microsoft PowerPoint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To prepare and present academic research findings and project slides.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🎨  Canva &amp; Figma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To design intuitive UI mockups, infographics, and portal branding assets.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749039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💻  Visual Studio Code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Primary IDE to develop the CleanTrack Nashik Next.js web application.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3776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🗄️  Prisma &amp; SQLite/Postgres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Robust ORM database to store complaints, user details, and audit history.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93776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🗺️  Leaflet &amp; OpenStreetMap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To capture, display, and interactively pin complaint geolocation coordinates.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❖  PROTOTYPE SCREENSHOTS — CLEANTRACK NASHIK :</a:t>
            </a:r>
          </a:p>
        </p:txBody>
      </p:sp>
      <p:pic>
        <p:nvPicPr>
          <p:cNvPr id="4" name="Picture 3" descr="screen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3017520" cy="1828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0" y="1371600"/>
            <a:ext cx="21031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Homepage &amp; Category Selector</a:t>
            </a:r>
          </a:p>
          <a:p>
            <a:br/>
            <a:pPr>
              <a:defRPr sz="1000">
                <a:solidFill>
                  <a:srgbClr val="64748B"/>
                </a:solidFill>
              </a:defRPr>
            </a:pPr>
            <a:r>
              <a:t>Bilingual reporting hero with 17+ civic problem categories.</a:t>
            </a:r>
          </a:p>
          <a:p>
            <a:br/>
            <a:pPr>
              <a:defRPr sz="1000" b="1">
                <a:solidFill>
                  <a:srgbClr val="059669"/>
                </a:solidFill>
              </a:defRPr>
            </a:pPr>
            <a:r>
              <a:t>✓ Verified Working</a:t>
            </a:r>
          </a:p>
        </p:txBody>
      </p:sp>
      <p:pic>
        <p:nvPicPr>
          <p:cNvPr id="6" name="Picture 5" descr="screen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71600"/>
            <a:ext cx="3017520" cy="1828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326880" y="1371600"/>
            <a:ext cx="21031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Live Camera &amp; GPS Picker</a:t>
            </a:r>
          </a:p>
          <a:p>
            <a:br/>
            <a:pPr>
              <a:defRPr sz="1000">
                <a:solidFill>
                  <a:srgbClr val="64748B"/>
                </a:solidFill>
              </a:defRPr>
            </a:pPr>
            <a:r>
              <a:t>Real device camera capture with Leaflet map pin &amp; accuracy ring.</a:t>
            </a:r>
          </a:p>
          <a:p>
            <a:br/>
            <a:pPr>
              <a:defRPr sz="1000" b="1">
                <a:solidFill>
                  <a:srgbClr val="059669"/>
                </a:solidFill>
              </a:defRPr>
            </a:pPr>
            <a:r>
              <a:t>✓ Verified Working</a:t>
            </a:r>
          </a:p>
        </p:txBody>
      </p:sp>
      <p:pic>
        <p:nvPicPr>
          <p:cNvPr id="8" name="Picture 7" descr="screen_tr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794760"/>
            <a:ext cx="3017520" cy="1828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840480" y="3794760"/>
            <a:ext cx="21031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Public Complaint Tracking</a:t>
            </a:r>
          </a:p>
          <a:p>
            <a:br/>
            <a:pPr>
              <a:defRPr sz="1000">
                <a:solidFill>
                  <a:srgbClr val="64748B"/>
                </a:solidFill>
              </a:defRPr>
            </a:pPr>
            <a:r>
              <a:t>Real-time 4-stage resolution timeline with reference CTN-2026-894215.</a:t>
            </a:r>
          </a:p>
          <a:p>
            <a:br/>
            <a:pPr>
              <a:defRPr sz="1000" b="1">
                <a:solidFill>
                  <a:srgbClr val="059669"/>
                </a:solidFill>
              </a:defRPr>
            </a:pPr>
            <a:r>
              <a:t>✓ Verified Working</a:t>
            </a:r>
          </a:p>
        </p:txBody>
      </p:sp>
      <p:pic>
        <p:nvPicPr>
          <p:cNvPr id="10" name="Picture 9" descr="screen_adm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794760"/>
            <a:ext cx="3017520" cy="18288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326880" y="3794760"/>
            <a:ext cx="21031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Municipal Admin Dashboard</a:t>
            </a:r>
          </a:p>
          <a:p>
            <a:br/>
            <a:pPr>
              <a:defRPr sz="1000">
                <a:solidFill>
                  <a:srgbClr val="64748B"/>
                </a:solidFill>
              </a:defRPr>
            </a:pPr>
            <a:r>
              <a:t>Zone-wise complaint dispatch, department assignment, and audit logs.</a:t>
            </a:r>
          </a:p>
          <a:p>
            <a:br/>
            <a:pPr>
              <a:defRPr sz="1000" b="1">
                <a:solidFill>
                  <a:srgbClr val="059669"/>
                </a:solidFill>
              </a:defRPr>
            </a:pPr>
            <a:r>
              <a:t>✓ Verified Working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❖  CONCLUSION &amp; QUESTIONS 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640080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defRPr sz="1800" b="1">
                <a:solidFill>
                  <a:srgbClr val="DC2626"/>
                </a:solidFill>
              </a:defRPr>
            </a:pPr>
            <a:r>
              <a:t>Project Summary: CleanTrack Nashik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Successfully addressed citizen grievances with a unified, zero-login portal.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Eliminated bogus complaints via live device camera capture &amp; GPS geofencing.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All 9 academic presentation sub-topics thoroughly researched and executed.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Validated through field visits in Panchavati, Gangapur Road, and CIDCO.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Survey of 120 citizens demonstrated 89.1% readiness for digital civic reporting.</a:t>
            </a:r>
          </a:p>
          <a:p>
            <a:br/>
            <a:pPr>
              <a:defRPr sz="1300" b="1">
                <a:solidFill>
                  <a:srgbClr val="2563EB"/>
                </a:solidFill>
              </a:defRPr>
            </a:pPr>
            <a:r>
              <a:t>🌐 Live Portal: https://cleantrack-nashik.vercel.app</a:t>
            </a:r>
          </a:p>
          <a:p>
            <a:pPr>
              <a:defRPr sz="1200" b="1">
                <a:solidFill>
                  <a:srgbClr val="EA580C"/>
                </a:solidFill>
              </a:defRPr>
            </a:pPr>
            <a:r>
              <a:t>💻 GitHub: https://github.com/Rohityadavxcode/cleantrack-nashik</a:t>
            </a:r>
          </a:p>
          <a:p>
            <a:br/>
            <a:pPr>
              <a:defRPr sz="1300" b="1">
                <a:solidFill>
                  <a:srgbClr val="0F172A"/>
                </a:solidFill>
              </a:defRPr>
            </a:pPr>
            <a:r>
              <a:t>Presented by Group: URBAN TECH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Pawan Shimpi (53)  •  Rohit Yadav (67)</a:t>
            </a:r>
            <a:br/>
            <a:r>
              <a:t>Under the guidance of Mrs. Shubhangi Phade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463040"/>
            <a:ext cx="402336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2200" b="1">
                <a:solidFill>
                  <a:srgbClr val="DC2626"/>
                </a:solidFill>
              </a:defRPr>
            </a:pPr>
            <a:r>
              <a:t>THANK YOU!</a:t>
            </a:r>
          </a:p>
          <a:p>
            <a:pPr algn="ctr">
              <a:defRPr sz="1400" b="1">
                <a:solidFill>
                  <a:srgbClr val="0F172A"/>
                </a:solidFill>
              </a:defRPr>
            </a:pPr>
            <a:r>
              <a:t>Any Questions or Feedback?</a:t>
            </a:r>
          </a:p>
        </p:txBody>
      </p:sp>
      <p:pic>
        <p:nvPicPr>
          <p:cNvPr id="6" name="Picture 5" descr="char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468880"/>
            <a:ext cx="2743200" cy="23477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